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11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11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11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11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85780"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25th August</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666339897"/>
              </p:ext>
            </p:extLst>
          </p:nvPr>
        </p:nvGraphicFramePr>
        <p:xfrm>
          <a:off x="8209935" y="4898509"/>
          <a:ext cx="3685386" cy="975360"/>
        </p:xfrm>
        <a:graphic>
          <a:graphicData uri="http://schemas.openxmlformats.org/drawingml/2006/table">
            <a:tbl>
              <a:tblPr firstRow="1" bandRow="1">
                <a:tableStyleId>{5940675A-B579-460E-94D1-54222C63F5DA}</a:tableStyleId>
              </a:tblPr>
              <a:tblGrid>
                <a:gridCol w="3685386">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Abhinaya. P 2420030309</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Kodali Anusha 2420030549</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err="1">
                          <a:solidFill>
                            <a:schemeClr val="dk1"/>
                          </a:solidFill>
                          <a:latin typeface="Times New Roman" panose="02020603050405020304" pitchFamily="18" charset="0"/>
                          <a:ea typeface="Cambria"/>
                          <a:cs typeface="Times New Roman" panose="02020603050405020304" pitchFamily="18" charset="0"/>
                        </a:rPr>
                        <a:t>Bejagama</a:t>
                      </a:r>
                      <a:r>
                        <a:rPr lang="en-IN" sz="1400" b="1" kern="1200" dirty="0">
                          <a:solidFill>
                            <a:schemeClr val="dk1"/>
                          </a:solidFill>
                          <a:latin typeface="Times New Roman" panose="02020603050405020304" pitchFamily="18" charset="0"/>
                          <a:ea typeface="Cambria"/>
                          <a:cs typeface="Times New Roman" panose="02020603050405020304" pitchFamily="18" charset="0"/>
                        </a:rPr>
                        <a:t> Anupama 2420030575</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409851384"/>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Ms.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Venkateshwari</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Kethineni</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 25</a:t>
            </a:r>
            <a:r>
              <a:rPr lang="en-US" b="1" baseline="30000" dirty="0"/>
              <a:t>th</a:t>
            </a:r>
            <a:r>
              <a:rPr lang="en-US" b="1" dirty="0"/>
              <a:t> August</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err="1">
                <a:solidFill>
                  <a:schemeClr val="bg1"/>
                </a:solidFill>
                <a:latin typeface="Times New Roman" panose="02020603050405020304" pitchFamily="18" charset="0"/>
                <a:cs typeface="Times New Roman" panose="02020603050405020304" pitchFamily="18" charset="0"/>
              </a:rPr>
              <a:t>AgriMind</a:t>
            </a:r>
            <a:r>
              <a:rPr lang="en-IN" sz="2800" b="1" dirty="0">
                <a:solidFill>
                  <a:schemeClr val="bg1"/>
                </a:solidFill>
                <a:latin typeface="Times New Roman" panose="02020603050405020304" pitchFamily="18" charset="0"/>
                <a:cs typeface="Times New Roman" panose="02020603050405020304" pitchFamily="18" charset="0"/>
              </a:rPr>
              <a:t> agentic farming advisory System</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itle 1">
            <a:extLst>
              <a:ext uri="{FF2B5EF4-FFF2-40B4-BE49-F238E27FC236}">
                <a16:creationId xmlns:a16="http://schemas.microsoft.com/office/drawing/2014/main" id="{BC96ADD3-47F6-0C66-4339-83DCCC6B618E}"/>
              </a:ext>
            </a:extLst>
          </p:cNvPr>
          <p:cNvSpPr>
            <a:spLocks noGrp="1"/>
          </p:cNvSpPr>
          <p:nvPr>
            <p:ph type="title"/>
          </p:nvPr>
        </p:nvSpPr>
        <p:spPr>
          <a:xfrm>
            <a:off x="838200" y="2627061"/>
            <a:ext cx="10515600" cy="1325563"/>
          </a:xfrm>
        </p:spPr>
        <p:txBody>
          <a:bodyPr>
            <a:noAutofit/>
          </a:bodyPr>
          <a:lstStyle/>
          <a:p>
            <a:r>
              <a:rPr lang="en-IN" sz="2400" dirty="0"/>
              <a:t>Farmers face several challenges such as unpredictable weather, crop diseases, pests, soil problems, improper irrigation, fertilizer misuse, and changing market prices. Existing agricultural systems usually focus on only one problem at a time and provide static recommendations. Farmers therefore need to consult multiple sources before making decisions.</a:t>
            </a:r>
            <a:br>
              <a:rPr lang="en-IN" sz="2400" dirty="0"/>
            </a:br>
            <a:r>
              <a:rPr lang="en-IN" sz="2400" b="1" dirty="0"/>
              <a:t>Agri Mind</a:t>
            </a:r>
            <a:r>
              <a:rPr lang="en-IN" sz="2400" dirty="0"/>
              <a:t> aims to provide a single intelligent platform that combines weather, soil, crop, disease, irrigation, fertilizer, and market information. Using multiple AI agents and an orchestration layer, the system provides </a:t>
            </a:r>
            <a:r>
              <a:rPr lang="en-IN" sz="2400" b="1" dirty="0"/>
              <a:t>personalized, timely, and actionable recommendations</a:t>
            </a:r>
            <a:r>
              <a:rPr lang="en-IN" sz="2400" dirty="0"/>
              <a:t> based on the farmer's specific conditions.</a:t>
            </a:r>
            <a:br>
              <a:rPr lang="en-IN" sz="2400" dirty="0"/>
            </a:br>
            <a:endParaRPr lang="en-IN" sz="2400" dirty="0"/>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itle 1">
            <a:extLst>
              <a:ext uri="{FF2B5EF4-FFF2-40B4-BE49-F238E27FC236}">
                <a16:creationId xmlns:a16="http://schemas.microsoft.com/office/drawing/2014/main" id="{9E7DB956-3F04-3CE4-F4A8-1628F7E247A6}"/>
              </a:ext>
            </a:extLst>
          </p:cNvPr>
          <p:cNvSpPr>
            <a:spLocks noGrp="1"/>
          </p:cNvSpPr>
          <p:nvPr>
            <p:ph type="title"/>
          </p:nvPr>
        </p:nvSpPr>
        <p:spPr>
          <a:xfrm>
            <a:off x="838200" y="2466641"/>
            <a:ext cx="10515600" cy="1325563"/>
          </a:xfrm>
        </p:spPr>
        <p:txBody>
          <a:bodyPr>
            <a:noAutofit/>
          </a:bodyPr>
          <a:lstStyle/>
          <a:p>
            <a:pPr lvl="0"/>
            <a:r>
              <a:rPr lang="en-IN" sz="2400" dirty="0"/>
              <a:t>Develop an </a:t>
            </a:r>
            <a:r>
              <a:rPr lang="en-IN" sz="2400" b="1" dirty="0"/>
              <a:t>AI-based agricultural advisory system</a:t>
            </a:r>
            <a:r>
              <a:rPr lang="en-IN" sz="2400" dirty="0"/>
              <a:t> using multiple specialized agents. </a:t>
            </a:r>
            <a:br>
              <a:rPr lang="en-IN" sz="2400" dirty="0"/>
            </a:br>
            <a:r>
              <a:rPr lang="en-IN" sz="2400" dirty="0" err="1"/>
              <a:t>Analyze</a:t>
            </a:r>
            <a:r>
              <a:rPr lang="en-IN" sz="2400" dirty="0"/>
              <a:t> </a:t>
            </a:r>
            <a:r>
              <a:rPr lang="en-IN" sz="2400" b="1" dirty="0"/>
              <a:t>soil, weather, crop, disease, irrigation, fertilizer, and market data</a:t>
            </a:r>
            <a:r>
              <a:rPr lang="en-IN" sz="2400" dirty="0"/>
              <a:t>. </a:t>
            </a:r>
            <a:br>
              <a:rPr lang="en-IN" sz="2400" dirty="0"/>
            </a:br>
            <a:r>
              <a:rPr lang="en-IN" sz="2400" dirty="0"/>
              <a:t>Provide personalized recommendations based on </a:t>
            </a:r>
            <a:r>
              <a:rPr lang="en-IN" sz="2400" b="1" dirty="0"/>
              <a:t>crop type and growth stage</a:t>
            </a:r>
            <a:r>
              <a:rPr lang="en-IN" sz="2400" dirty="0"/>
              <a:t>. </a:t>
            </a:r>
            <a:br>
              <a:rPr lang="en-IN" sz="2400" dirty="0"/>
            </a:br>
            <a:r>
              <a:rPr lang="en-IN" sz="2400" dirty="0"/>
              <a:t>Enable farmers to interact using </a:t>
            </a:r>
            <a:r>
              <a:rPr lang="en-IN" sz="2400" b="1" dirty="0"/>
              <a:t>text, voice, and images</a:t>
            </a:r>
            <a:r>
              <a:rPr lang="en-IN" sz="2400" dirty="0"/>
              <a:t>. </a:t>
            </a:r>
            <a:br>
              <a:rPr lang="en-IN" sz="2400" dirty="0"/>
            </a:br>
            <a:r>
              <a:rPr lang="en-IN" sz="2400" dirty="0"/>
              <a:t>Provide timely recommendations for irrigation, diseases, fertilizers, and crop management. </a:t>
            </a:r>
            <a:br>
              <a:rPr lang="en-IN" sz="2400" dirty="0"/>
            </a:br>
            <a:r>
              <a:rPr lang="en-IN" sz="2400" dirty="0"/>
              <a:t>Maintain historical farm data to improve future recommendations. </a:t>
            </a:r>
            <a:br>
              <a:rPr lang="en-IN" sz="2400" dirty="0"/>
            </a:br>
            <a:r>
              <a:rPr lang="en-IN" sz="2400" dirty="0"/>
              <a:t>Reduce unnecessary use of </a:t>
            </a:r>
            <a:r>
              <a:rPr lang="en-IN" sz="2400" b="1" dirty="0"/>
              <a:t>water, fertilizers, and other resources</a:t>
            </a:r>
            <a:r>
              <a:rPr lang="en-IN" sz="2400" dirty="0"/>
              <a:t>. </a:t>
            </a:r>
            <a:br>
              <a:rPr lang="en-IN" sz="2400" dirty="0"/>
            </a:br>
            <a:r>
              <a:rPr lang="en-IN" sz="2400" dirty="0"/>
              <a:t>Develop a simple and user-friendly interface for farmers.</a:t>
            </a:r>
            <a:br>
              <a:rPr lang="en-IN" sz="2400" dirty="0"/>
            </a:br>
            <a:endParaRPr lang="en-IN" sz="2400"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67286895"/>
              </p:ext>
            </p:extLst>
          </p:nvPr>
        </p:nvGraphicFramePr>
        <p:xfrm>
          <a:off x="274647" y="689467"/>
          <a:ext cx="10954828" cy="5416664"/>
        </p:xfrm>
        <a:graphic>
          <a:graphicData uri="http://schemas.openxmlformats.org/drawingml/2006/table">
            <a:tbl>
              <a:tblPr firstRow="1" bandRow="1">
                <a:tableStyleId>{BC89EF96-8CEA-46FF-86C4-4CE0E7609802}</a:tableStyleId>
              </a:tblPr>
              <a:tblGrid>
                <a:gridCol w="1024665">
                  <a:extLst>
                    <a:ext uri="{9D8B030D-6E8A-4147-A177-3AD203B41FA5}">
                      <a16:colId xmlns:a16="http://schemas.microsoft.com/office/drawing/2014/main" val="20001"/>
                    </a:ext>
                  </a:extLst>
                </a:gridCol>
                <a:gridCol w="2140859">
                  <a:extLst>
                    <a:ext uri="{9D8B030D-6E8A-4147-A177-3AD203B41FA5}">
                      <a16:colId xmlns:a16="http://schemas.microsoft.com/office/drawing/2014/main" val="20002"/>
                    </a:ext>
                  </a:extLst>
                </a:gridCol>
                <a:gridCol w="2329815">
                  <a:extLst>
                    <a:ext uri="{9D8B030D-6E8A-4147-A177-3AD203B41FA5}">
                      <a16:colId xmlns:a16="http://schemas.microsoft.com/office/drawing/2014/main" val="20003"/>
                    </a:ext>
                  </a:extLst>
                </a:gridCol>
                <a:gridCol w="2763088">
                  <a:extLst>
                    <a:ext uri="{9D8B030D-6E8A-4147-A177-3AD203B41FA5}">
                      <a16:colId xmlns:a16="http://schemas.microsoft.com/office/drawing/2014/main" val="20004"/>
                    </a:ext>
                  </a:extLst>
                </a:gridCol>
                <a:gridCol w="2696401">
                  <a:extLst>
                    <a:ext uri="{9D8B030D-6E8A-4147-A177-3AD203B41FA5}">
                      <a16:colId xmlns:a16="http://schemas.microsoft.com/office/drawing/2014/main" val="1396003017"/>
                    </a:ext>
                  </a:extLst>
                </a:gridCol>
              </a:tblGrid>
              <a:tr h="336292">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336732">
                <a:tc>
                  <a:txBody>
                    <a:bodyPr/>
                    <a:lstStyle/>
                    <a:p>
                      <a:pPr>
                        <a:buNone/>
                      </a:pPr>
                      <a:r>
                        <a:rPr lang="en-IN" dirty="0"/>
                        <a:t>No.</a:t>
                      </a:r>
                    </a:p>
                  </a:txBody>
                  <a:tcPr anchor="ctr"/>
                </a:tc>
                <a:tc>
                  <a:txBody>
                    <a:bodyPr/>
                    <a:lstStyle/>
                    <a:p>
                      <a:pPr>
                        <a:buNone/>
                      </a:pPr>
                      <a:r>
                        <a:rPr lang="en-IN"/>
                        <a:t>Study</a:t>
                      </a:r>
                    </a:p>
                  </a:txBody>
                  <a:tcPr anchor="ctr"/>
                </a:tc>
                <a:tc>
                  <a:txBody>
                    <a:bodyPr/>
                    <a:lstStyle/>
                    <a:p>
                      <a:pPr>
                        <a:buNone/>
                      </a:pPr>
                      <a:r>
                        <a:rPr lang="en-IN"/>
                        <a:t>Technology</a:t>
                      </a:r>
                    </a:p>
                  </a:txBody>
                  <a:tcPr anchor="ctr"/>
                </a:tc>
                <a:tc>
                  <a:txBody>
                    <a:bodyPr/>
                    <a:lstStyle/>
                    <a:p>
                      <a:pPr>
                        <a:buNone/>
                      </a:pPr>
                      <a:r>
                        <a:rPr lang="en-IN"/>
                        <a:t>Key Finding</a:t>
                      </a:r>
                    </a:p>
                  </a:txBody>
                  <a:tcPr anchor="ctr"/>
                </a:tc>
                <a:tc>
                  <a:txBody>
                    <a:bodyPr/>
                    <a:lstStyle/>
                    <a:p>
                      <a:pPr>
                        <a:buNone/>
                      </a:pPr>
                      <a:r>
                        <a:rPr lang="en-IN"/>
                        <a:t>Limitation</a:t>
                      </a:r>
                    </a:p>
                  </a:txBody>
                  <a:tcPr anchor="ctr"/>
                </a:tc>
                <a:extLst>
                  <a:ext uri="{0D108BD9-81ED-4DB2-BD59-A6C34878D82A}">
                    <a16:rowId xmlns:a16="http://schemas.microsoft.com/office/drawing/2014/main" val="3714155954"/>
                  </a:ext>
                </a:extLst>
              </a:tr>
              <a:tr h="1336732">
                <a:tc>
                  <a:txBody>
                    <a:bodyPr/>
                    <a:lstStyle/>
                    <a:p>
                      <a:pPr>
                        <a:buNone/>
                      </a:pPr>
                      <a:r>
                        <a:rPr lang="en-IN" b="1"/>
                        <a:t>1</a:t>
                      </a:r>
                      <a:endParaRPr lang="en-IN"/>
                    </a:p>
                  </a:txBody>
                  <a:tcPr anchor="ctr"/>
                </a:tc>
                <a:tc>
                  <a:txBody>
                    <a:bodyPr/>
                    <a:lstStyle/>
                    <a:p>
                      <a:pPr>
                        <a:buNone/>
                      </a:pPr>
                      <a:r>
                        <a:rPr lang="en-IN"/>
                        <a:t>Crop Recommendation Systems</a:t>
                      </a:r>
                    </a:p>
                  </a:txBody>
                  <a:tcPr anchor="ctr"/>
                </a:tc>
                <a:tc>
                  <a:txBody>
                    <a:bodyPr/>
                    <a:lstStyle/>
                    <a:p>
                      <a:pPr>
                        <a:buNone/>
                      </a:pPr>
                      <a:r>
                        <a:rPr lang="en-IN"/>
                        <a:t>ML, DL, IoT</a:t>
                      </a:r>
                    </a:p>
                  </a:txBody>
                  <a:tcPr anchor="ctr"/>
                </a:tc>
                <a:tc>
                  <a:txBody>
                    <a:bodyPr/>
                    <a:lstStyle/>
                    <a:p>
                      <a:pPr>
                        <a:buNone/>
                      </a:pPr>
                      <a:r>
                        <a:rPr lang="en-IN"/>
                        <a:t>ML models can recommend suitable crops using soil and environmental conditions.</a:t>
                      </a:r>
                    </a:p>
                  </a:txBody>
                  <a:tcPr anchor="ctr"/>
                </a:tc>
                <a:tc>
                  <a:txBody>
                    <a:bodyPr/>
                    <a:lstStyle/>
                    <a:p>
                      <a:pPr>
                        <a:buNone/>
                      </a:pPr>
                      <a:r>
                        <a:rPr lang="en-IN"/>
                        <a:t>Mainly focuses on crop selection.</a:t>
                      </a:r>
                    </a:p>
                  </a:txBody>
                  <a:tcPr anchor="ctr"/>
                </a:tc>
                <a:extLst>
                  <a:ext uri="{0D108BD9-81ED-4DB2-BD59-A6C34878D82A}">
                    <a16:rowId xmlns:a16="http://schemas.microsoft.com/office/drawing/2014/main" val="4271556729"/>
                  </a:ext>
                </a:extLst>
              </a:tr>
              <a:tr h="1174326">
                <a:tc>
                  <a:txBody>
                    <a:bodyPr/>
                    <a:lstStyle/>
                    <a:p>
                      <a:pPr>
                        <a:buNone/>
                      </a:pPr>
                      <a:r>
                        <a:rPr lang="en-IN" b="1"/>
                        <a:t>2</a:t>
                      </a:r>
                      <a:endParaRPr lang="en-IN"/>
                    </a:p>
                  </a:txBody>
                  <a:tcPr anchor="ctr"/>
                </a:tc>
                <a:tc>
                  <a:txBody>
                    <a:bodyPr/>
                    <a:lstStyle/>
                    <a:p>
                      <a:pPr>
                        <a:buNone/>
                      </a:pPr>
                      <a:r>
                        <a:rPr lang="en-IN"/>
                        <a:t>ML for Irrigation Decision Making</a:t>
                      </a:r>
                    </a:p>
                  </a:txBody>
                  <a:tcPr anchor="ctr"/>
                </a:tc>
                <a:tc>
                  <a:txBody>
                    <a:bodyPr/>
                    <a:lstStyle/>
                    <a:p>
                      <a:pPr>
                        <a:buNone/>
                      </a:pPr>
                      <a:r>
                        <a:rPr lang="en-IN"/>
                        <a:t>Machine Learning</a:t>
                      </a:r>
                    </a:p>
                  </a:txBody>
                  <a:tcPr anchor="ctr"/>
                </a:tc>
                <a:tc>
                  <a:txBody>
                    <a:bodyPr/>
                    <a:lstStyle/>
                    <a:p>
                      <a:pPr>
                        <a:buNone/>
                      </a:pPr>
                      <a:r>
                        <a:rPr lang="en-IN"/>
                        <a:t>ML can estimate crop water requirements and support irrigation decisions.</a:t>
                      </a:r>
                    </a:p>
                  </a:txBody>
                  <a:tcPr anchor="ctr"/>
                </a:tc>
                <a:tc>
                  <a:txBody>
                    <a:bodyPr/>
                    <a:lstStyle/>
                    <a:p>
                      <a:pPr>
                        <a:buNone/>
                      </a:pPr>
                      <a:r>
                        <a:rPr lang="en-IN"/>
                        <a:t>Does not integrate irrigation with other farming decisions.</a:t>
                      </a:r>
                    </a:p>
                  </a:txBody>
                  <a:tcPr anchor="ctr"/>
                </a:tc>
                <a:extLst>
                  <a:ext uri="{0D108BD9-81ED-4DB2-BD59-A6C34878D82A}">
                    <a16:rowId xmlns:a16="http://schemas.microsoft.com/office/drawing/2014/main" val="2655426370"/>
                  </a:ext>
                </a:extLst>
              </a:tr>
              <a:tr h="1174326">
                <a:tc>
                  <a:txBody>
                    <a:bodyPr/>
                    <a:lstStyle/>
                    <a:p>
                      <a:pPr>
                        <a:buNone/>
                      </a:pPr>
                      <a:r>
                        <a:rPr lang="en-IN" b="1"/>
                        <a:t>3</a:t>
                      </a:r>
                      <a:endParaRPr lang="en-IN"/>
                    </a:p>
                  </a:txBody>
                  <a:tcPr anchor="ctr"/>
                </a:tc>
                <a:tc>
                  <a:txBody>
                    <a:bodyPr/>
                    <a:lstStyle/>
                    <a:p>
                      <a:pPr>
                        <a:buNone/>
                      </a:pPr>
                      <a:r>
                        <a:rPr lang="en-IN"/>
                        <a:t>AI for Crop Disease Detection</a:t>
                      </a:r>
                    </a:p>
                  </a:txBody>
                  <a:tcPr anchor="ctr"/>
                </a:tc>
                <a:tc>
                  <a:txBody>
                    <a:bodyPr/>
                    <a:lstStyle/>
                    <a:p>
                      <a:pPr>
                        <a:buNone/>
                      </a:pPr>
                      <a:r>
                        <a:rPr lang="en-IN"/>
                        <a:t>CNN, Deep Learning</a:t>
                      </a:r>
                    </a:p>
                  </a:txBody>
                  <a:tcPr anchor="ctr"/>
                </a:tc>
                <a:tc>
                  <a:txBody>
                    <a:bodyPr/>
                    <a:lstStyle/>
                    <a:p>
                      <a:pPr>
                        <a:buNone/>
                      </a:pPr>
                      <a:r>
                        <a:rPr lang="en-IN"/>
                        <a:t>AI can effectively identify crop diseases from plant images.</a:t>
                      </a:r>
                    </a:p>
                  </a:txBody>
                  <a:tcPr anchor="ctr"/>
                </a:tc>
                <a:tc>
                  <a:txBody>
                    <a:bodyPr/>
                    <a:lstStyle/>
                    <a:p>
                      <a:pPr>
                        <a:buNone/>
                      </a:pPr>
                      <a:r>
                        <a:rPr lang="en-IN" dirty="0"/>
                        <a:t>Focuses mainly on disease detection rather than complete farm advisory.</a:t>
                      </a:r>
                    </a:p>
                  </a:txBody>
                  <a:tcPr anchor="ct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6" name="Table 5">
            <a:extLst>
              <a:ext uri="{FF2B5EF4-FFF2-40B4-BE49-F238E27FC236}">
                <a16:creationId xmlns:a16="http://schemas.microsoft.com/office/drawing/2014/main" id="{DA417CAD-EE96-DE5B-40A0-FA2AFC3D8B3F}"/>
              </a:ext>
            </a:extLst>
          </p:cNvPr>
          <p:cNvGraphicFramePr>
            <a:graphicFrameLocks noGrp="1"/>
          </p:cNvGraphicFramePr>
          <p:nvPr>
            <p:extLst>
              <p:ext uri="{D42A27DB-BD31-4B8C-83A1-F6EECF244321}">
                <p14:modId xmlns:p14="http://schemas.microsoft.com/office/powerpoint/2010/main" val="1989885404"/>
              </p:ext>
            </p:extLst>
          </p:nvPr>
        </p:nvGraphicFramePr>
        <p:xfrm>
          <a:off x="593558" y="1411705"/>
          <a:ext cx="10760242" cy="4672920"/>
        </p:xfrm>
        <a:graphic>
          <a:graphicData uri="http://schemas.openxmlformats.org/drawingml/2006/table">
            <a:tbl>
              <a:tblPr/>
              <a:tblGrid>
                <a:gridCol w="5380121">
                  <a:extLst>
                    <a:ext uri="{9D8B030D-6E8A-4147-A177-3AD203B41FA5}">
                      <a16:colId xmlns:a16="http://schemas.microsoft.com/office/drawing/2014/main" val="2310424068"/>
                    </a:ext>
                  </a:extLst>
                </a:gridCol>
                <a:gridCol w="5380121">
                  <a:extLst>
                    <a:ext uri="{9D8B030D-6E8A-4147-A177-3AD203B41FA5}">
                      <a16:colId xmlns:a16="http://schemas.microsoft.com/office/drawing/2014/main" val="326487488"/>
                    </a:ext>
                  </a:extLst>
                </a:gridCol>
              </a:tblGrid>
              <a:tr h="1346079">
                <a:tc>
                  <a:txBody>
                    <a:bodyPr/>
                    <a:lstStyle/>
                    <a:p>
                      <a:pPr>
                        <a:buNone/>
                      </a:pPr>
                      <a:endParaRPr lang="en-IN" dirty="0"/>
                    </a:p>
                    <a:p>
                      <a:pPr>
                        <a:buNone/>
                      </a:pPr>
                      <a:endParaRPr lang="en-IN" dirty="0"/>
                    </a:p>
                    <a:p>
                      <a:pPr>
                        <a:buNone/>
                      </a:pPr>
                      <a:r>
                        <a:rPr lang="en-IN" dirty="0"/>
                        <a:t>Existing Gap</a:t>
                      </a:r>
                    </a:p>
                    <a:p>
                      <a:pPr>
                        <a:buNone/>
                      </a:pPr>
                      <a:endParaRPr lang="en-IN" dirty="0"/>
                    </a:p>
                    <a:p>
                      <a:pPr>
                        <a:buNone/>
                      </a:pPr>
                      <a:endParaRPr lang="en-IN" dirty="0"/>
                    </a:p>
                  </a:txBody>
                  <a:tcPr anchor="ctr">
                    <a:lnL>
                      <a:noFill/>
                    </a:lnL>
                    <a:lnR>
                      <a:noFill/>
                    </a:lnR>
                    <a:lnT>
                      <a:noFill/>
                    </a:lnT>
                    <a:lnB>
                      <a:noFill/>
                    </a:lnB>
                    <a:noFill/>
                  </a:tcPr>
                </a:tc>
                <a:tc>
                  <a:txBody>
                    <a:bodyPr/>
                    <a:lstStyle/>
                    <a:p>
                      <a:pPr>
                        <a:buNone/>
                      </a:pPr>
                      <a:r>
                        <a:rPr lang="en-IN" dirty="0"/>
                        <a:t>Proposed Solution in Agri Mind</a:t>
                      </a:r>
                    </a:p>
                  </a:txBody>
                  <a:tcPr anchor="ctr">
                    <a:lnL>
                      <a:noFill/>
                    </a:lnL>
                    <a:lnR>
                      <a:noFill/>
                    </a:lnR>
                    <a:lnT>
                      <a:noFill/>
                    </a:lnT>
                    <a:lnB>
                      <a:noFill/>
                    </a:lnB>
                    <a:noFill/>
                  </a:tcPr>
                </a:tc>
                <a:extLst>
                  <a:ext uri="{0D108BD9-81ED-4DB2-BD59-A6C34878D82A}">
                    <a16:rowId xmlns:a16="http://schemas.microsoft.com/office/drawing/2014/main" val="2178692686"/>
                  </a:ext>
                </a:extLst>
              </a:tr>
              <a:tr h="414178">
                <a:tc>
                  <a:txBody>
                    <a:bodyPr/>
                    <a:lstStyle/>
                    <a:p>
                      <a:pPr>
                        <a:buNone/>
                      </a:pPr>
                      <a:r>
                        <a:rPr lang="en-IN"/>
                        <a:t>Systems focus on individual agricultural tasks.</a:t>
                      </a:r>
                    </a:p>
                  </a:txBody>
                  <a:tcPr anchor="ctr">
                    <a:lnL>
                      <a:noFill/>
                    </a:lnL>
                    <a:lnR>
                      <a:noFill/>
                    </a:lnR>
                    <a:lnT>
                      <a:noFill/>
                    </a:lnT>
                    <a:lnB>
                      <a:noFill/>
                    </a:lnB>
                    <a:noFill/>
                  </a:tcPr>
                </a:tc>
                <a:tc>
                  <a:txBody>
                    <a:bodyPr/>
                    <a:lstStyle/>
                    <a:p>
                      <a:pPr>
                        <a:buNone/>
                      </a:pPr>
                      <a:r>
                        <a:rPr lang="en-IN"/>
                        <a:t>Multiple specialized AI agents are integrated.</a:t>
                      </a:r>
                    </a:p>
                  </a:txBody>
                  <a:tcPr anchor="ctr">
                    <a:lnL>
                      <a:noFill/>
                    </a:lnL>
                    <a:lnR>
                      <a:noFill/>
                    </a:lnR>
                    <a:lnT>
                      <a:noFill/>
                    </a:lnT>
                    <a:lnB>
                      <a:noFill/>
                    </a:lnB>
                    <a:noFill/>
                  </a:tcPr>
                </a:tc>
                <a:extLst>
                  <a:ext uri="{0D108BD9-81ED-4DB2-BD59-A6C34878D82A}">
                    <a16:rowId xmlns:a16="http://schemas.microsoft.com/office/drawing/2014/main" val="3135012533"/>
                  </a:ext>
                </a:extLst>
              </a:tr>
              <a:tr h="414178">
                <a:tc>
                  <a:txBody>
                    <a:bodyPr/>
                    <a:lstStyle/>
                    <a:p>
                      <a:pPr>
                        <a:buNone/>
                      </a:pPr>
                      <a:r>
                        <a:rPr lang="en-IN"/>
                        <a:t>Information comes from different sources.</a:t>
                      </a:r>
                    </a:p>
                  </a:txBody>
                  <a:tcPr anchor="ctr">
                    <a:lnL>
                      <a:noFill/>
                    </a:lnL>
                    <a:lnR>
                      <a:noFill/>
                    </a:lnR>
                    <a:lnT>
                      <a:noFill/>
                    </a:lnT>
                    <a:lnB>
                      <a:noFill/>
                    </a:lnB>
                    <a:noFill/>
                  </a:tcPr>
                </a:tc>
                <a:tc>
                  <a:txBody>
                    <a:bodyPr/>
                    <a:lstStyle/>
                    <a:p>
                      <a:pPr>
                        <a:buNone/>
                      </a:pPr>
                      <a:r>
                        <a:rPr lang="en-IN"/>
                        <a:t>Data is combined into a single platform.</a:t>
                      </a:r>
                    </a:p>
                  </a:txBody>
                  <a:tcPr anchor="ctr">
                    <a:lnL>
                      <a:noFill/>
                    </a:lnL>
                    <a:lnR>
                      <a:noFill/>
                    </a:lnR>
                    <a:lnT>
                      <a:noFill/>
                    </a:lnT>
                    <a:lnB>
                      <a:noFill/>
                    </a:lnB>
                    <a:noFill/>
                  </a:tcPr>
                </a:tc>
                <a:extLst>
                  <a:ext uri="{0D108BD9-81ED-4DB2-BD59-A6C34878D82A}">
                    <a16:rowId xmlns:a16="http://schemas.microsoft.com/office/drawing/2014/main" val="2603527624"/>
                  </a:ext>
                </a:extLst>
              </a:tr>
              <a:tr h="724812">
                <a:tc>
                  <a:txBody>
                    <a:bodyPr/>
                    <a:lstStyle/>
                    <a:p>
                      <a:pPr>
                        <a:buNone/>
                      </a:pPr>
                      <a:r>
                        <a:rPr lang="en-IN"/>
                        <a:t>Recommendations are often static.</a:t>
                      </a:r>
                    </a:p>
                  </a:txBody>
                  <a:tcPr anchor="ctr">
                    <a:lnL>
                      <a:noFill/>
                    </a:lnL>
                    <a:lnR>
                      <a:noFill/>
                    </a:lnR>
                    <a:lnT>
                      <a:noFill/>
                    </a:lnT>
                    <a:lnB>
                      <a:noFill/>
                    </a:lnB>
                    <a:noFill/>
                  </a:tcPr>
                </a:tc>
                <a:tc>
                  <a:txBody>
                    <a:bodyPr/>
                    <a:lstStyle/>
                    <a:p>
                      <a:pPr>
                        <a:buNone/>
                      </a:pPr>
                      <a:r>
                        <a:rPr lang="en-IN"/>
                        <a:t>Provides dynamic and context-aware recommendations.</a:t>
                      </a:r>
                    </a:p>
                  </a:txBody>
                  <a:tcPr anchor="ctr">
                    <a:lnL>
                      <a:noFill/>
                    </a:lnL>
                    <a:lnR>
                      <a:noFill/>
                    </a:lnR>
                    <a:lnT>
                      <a:noFill/>
                    </a:lnT>
                    <a:lnB>
                      <a:noFill/>
                    </a:lnB>
                    <a:noFill/>
                  </a:tcPr>
                </a:tc>
                <a:extLst>
                  <a:ext uri="{0D108BD9-81ED-4DB2-BD59-A6C34878D82A}">
                    <a16:rowId xmlns:a16="http://schemas.microsoft.com/office/drawing/2014/main" val="4022516385"/>
                  </a:ext>
                </a:extLst>
              </a:tr>
              <a:tr h="414178">
                <a:tc>
                  <a:txBody>
                    <a:bodyPr/>
                    <a:lstStyle/>
                    <a:p>
                      <a:pPr>
                        <a:buNone/>
                      </a:pPr>
                      <a:r>
                        <a:rPr lang="en-IN"/>
                        <a:t>Limited personalization.</a:t>
                      </a:r>
                    </a:p>
                  </a:txBody>
                  <a:tcPr anchor="ctr">
                    <a:lnL>
                      <a:noFill/>
                    </a:lnL>
                    <a:lnR>
                      <a:noFill/>
                    </a:lnR>
                    <a:lnT>
                      <a:noFill/>
                    </a:lnT>
                    <a:lnB>
                      <a:noFill/>
                    </a:lnB>
                    <a:noFill/>
                  </a:tcPr>
                </a:tc>
                <a:tc>
                  <a:txBody>
                    <a:bodyPr/>
                    <a:lstStyle/>
                    <a:p>
                      <a:pPr>
                        <a:buNone/>
                      </a:pPr>
                      <a:r>
                        <a:rPr lang="en-IN"/>
                        <a:t>Uses crop, soil, weather and farm history.</a:t>
                      </a:r>
                    </a:p>
                  </a:txBody>
                  <a:tcPr anchor="ctr">
                    <a:lnL>
                      <a:noFill/>
                    </a:lnL>
                    <a:lnR>
                      <a:noFill/>
                    </a:lnR>
                    <a:lnT>
                      <a:noFill/>
                    </a:lnT>
                    <a:lnB>
                      <a:noFill/>
                    </a:lnB>
                    <a:noFill/>
                  </a:tcPr>
                </a:tc>
                <a:extLst>
                  <a:ext uri="{0D108BD9-81ED-4DB2-BD59-A6C34878D82A}">
                    <a16:rowId xmlns:a16="http://schemas.microsoft.com/office/drawing/2014/main" val="900535622"/>
                  </a:ext>
                </a:extLst>
              </a:tr>
              <a:tr h="414178">
                <a:tc>
                  <a:txBody>
                    <a:bodyPr/>
                    <a:lstStyle/>
                    <a:p>
                      <a:pPr>
                        <a:buNone/>
                      </a:pPr>
                      <a:r>
                        <a:rPr lang="en-IN" dirty="0"/>
                        <a:t>Limited farmer interaction.</a:t>
                      </a:r>
                    </a:p>
                  </a:txBody>
                  <a:tcPr anchor="ctr">
                    <a:lnL>
                      <a:noFill/>
                    </a:lnL>
                    <a:lnR>
                      <a:noFill/>
                    </a:lnR>
                    <a:lnT>
                      <a:noFill/>
                    </a:lnT>
                    <a:lnB>
                      <a:noFill/>
                    </a:lnB>
                    <a:noFill/>
                  </a:tcPr>
                </a:tc>
                <a:tc>
                  <a:txBody>
                    <a:bodyPr/>
                    <a:lstStyle/>
                    <a:p>
                      <a:pPr>
                        <a:buNone/>
                      </a:pPr>
                      <a:r>
                        <a:rPr lang="en-IN"/>
                        <a:t>Supports text, voice and image inputs.</a:t>
                      </a:r>
                    </a:p>
                  </a:txBody>
                  <a:tcPr anchor="ctr">
                    <a:lnL>
                      <a:noFill/>
                    </a:lnL>
                    <a:lnR>
                      <a:noFill/>
                    </a:lnR>
                    <a:lnT>
                      <a:noFill/>
                    </a:lnT>
                    <a:lnB>
                      <a:noFill/>
                    </a:lnB>
                    <a:noFill/>
                  </a:tcPr>
                </a:tc>
                <a:extLst>
                  <a:ext uri="{0D108BD9-81ED-4DB2-BD59-A6C34878D82A}">
                    <a16:rowId xmlns:a16="http://schemas.microsoft.com/office/drawing/2014/main" val="778418962"/>
                  </a:ext>
                </a:extLst>
              </a:tr>
              <a:tr h="414178">
                <a:tc>
                  <a:txBody>
                    <a:bodyPr/>
                    <a:lstStyle/>
                    <a:p>
                      <a:pPr>
                        <a:buNone/>
                      </a:pPr>
                      <a:r>
                        <a:rPr lang="en-IN" dirty="0"/>
                        <a:t>Limited Proactive support.</a:t>
                      </a:r>
                    </a:p>
                  </a:txBody>
                  <a:tcPr anchor="ctr">
                    <a:lnL>
                      <a:noFill/>
                    </a:lnL>
                    <a:lnR>
                      <a:noFill/>
                    </a:lnR>
                    <a:lnT>
                      <a:noFill/>
                    </a:lnT>
                    <a:lnB>
                      <a:noFill/>
                    </a:lnB>
                    <a:noFill/>
                  </a:tcPr>
                </a:tc>
                <a:tc>
                  <a:txBody>
                    <a:bodyPr/>
                    <a:lstStyle/>
                    <a:p>
                      <a:pPr>
                        <a:buNone/>
                      </a:pPr>
                      <a:r>
                        <a:rPr lang="en-IN"/>
                        <a:t>An orchestrator coordinates different agents.</a:t>
                      </a:r>
                    </a:p>
                  </a:txBody>
                  <a:tcPr anchor="ctr">
                    <a:lnL>
                      <a:noFill/>
                    </a:lnL>
                    <a:lnR>
                      <a:noFill/>
                    </a:lnR>
                    <a:lnT>
                      <a:noFill/>
                    </a:lnT>
                    <a:lnB>
                      <a:noFill/>
                    </a:lnB>
                    <a:noFill/>
                  </a:tcPr>
                </a:tc>
                <a:extLst>
                  <a:ext uri="{0D108BD9-81ED-4DB2-BD59-A6C34878D82A}">
                    <a16:rowId xmlns:a16="http://schemas.microsoft.com/office/drawing/2014/main" val="3956972046"/>
                  </a:ext>
                </a:extLst>
              </a:tr>
              <a:tr h="414178">
                <a:tc>
                  <a:txBody>
                    <a:bodyPr/>
                    <a:lstStyle/>
                    <a:p>
                      <a:pPr>
                        <a:buNone/>
                      </a:pPr>
                      <a:endParaRPr lang="en-IN" dirty="0"/>
                    </a:p>
                  </a:txBody>
                  <a:tcPr anchor="ctr">
                    <a:lnL>
                      <a:noFill/>
                    </a:lnL>
                    <a:lnR>
                      <a:noFill/>
                    </a:lnR>
                    <a:lnT>
                      <a:noFill/>
                    </a:lnT>
                    <a:lnB>
                      <a:noFill/>
                    </a:lnB>
                    <a:noFill/>
                  </a:tcPr>
                </a:tc>
                <a:tc>
                  <a:txBody>
                    <a:bodyPr/>
                    <a:lstStyle/>
                    <a:p>
                      <a:pPr>
                        <a:buNone/>
                      </a:pPr>
                      <a:r>
                        <a:rPr lang="en-IN" dirty="0"/>
                        <a:t>Identifies risks and recommends timely actions.</a:t>
                      </a:r>
                    </a:p>
                  </a:txBody>
                  <a:tcPr anchor="ctr">
                    <a:lnL>
                      <a:noFill/>
                    </a:lnL>
                    <a:lnR>
                      <a:noFill/>
                    </a:lnR>
                    <a:lnT>
                      <a:noFill/>
                    </a:lnT>
                    <a:lnB>
                      <a:noFill/>
                    </a:lnB>
                    <a:noFill/>
                  </a:tcPr>
                </a:tc>
                <a:extLst>
                  <a:ext uri="{0D108BD9-81ED-4DB2-BD59-A6C34878D82A}">
                    <a16:rowId xmlns:a16="http://schemas.microsoft.com/office/drawing/2014/main" val="65524621"/>
                  </a:ext>
                </a:extLst>
              </a:tr>
            </a:tbl>
          </a:graphicData>
        </a:graphic>
      </p:graphicFrame>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5D57CA7A-3083-71B6-CF4D-7E9758977770}"/>
              </a:ext>
            </a:extLst>
          </p:cNvPr>
          <p:cNvSpPr txBox="1"/>
          <p:nvPr/>
        </p:nvSpPr>
        <p:spPr>
          <a:xfrm>
            <a:off x="738121" y="1781032"/>
            <a:ext cx="10924490" cy="4509617"/>
          </a:xfrm>
          <a:prstGeom prst="rect">
            <a:avLst/>
          </a:prstGeom>
          <a:noFill/>
        </p:spPr>
        <p:txBody>
          <a:bodyPr wrap="square">
            <a:spAutoFit/>
          </a:bodyPr>
          <a:lstStyle/>
          <a:p>
            <a:pPr>
              <a:buNone/>
            </a:pPr>
            <a:r>
              <a:rPr lang="en-IN" b="1" dirty="0"/>
              <a:t>Innovation</a:t>
            </a:r>
          </a:p>
          <a:p>
            <a:pPr>
              <a:buNone/>
            </a:pPr>
            <a:r>
              <a:rPr lang="en-IN" dirty="0"/>
              <a:t>Agri Mind uses </a:t>
            </a:r>
            <a:r>
              <a:rPr lang="en-IN" b="1" dirty="0"/>
              <a:t>multiple specialized AI agents</a:t>
            </a:r>
            <a:r>
              <a:rPr lang="en-IN" dirty="0"/>
              <a:t> for different agricultural tasks and combines their outputs through a central </a:t>
            </a:r>
            <a:r>
              <a:rPr lang="en-IN" b="1" dirty="0"/>
              <a:t>agent orchestrator</a:t>
            </a:r>
            <a:r>
              <a:rPr lang="en-IN" dirty="0"/>
              <a:t>.</a:t>
            </a:r>
          </a:p>
          <a:p>
            <a:pPr>
              <a:buNone/>
            </a:pPr>
            <a:r>
              <a:rPr lang="en-IN" b="1" dirty="0"/>
              <a:t>Creativity</a:t>
            </a:r>
          </a:p>
          <a:p>
            <a:pPr>
              <a:buNone/>
            </a:pPr>
            <a:r>
              <a:rPr lang="en-IN" dirty="0"/>
              <a:t>Farmers can interact with the system through </a:t>
            </a:r>
            <a:r>
              <a:rPr lang="en-IN" b="1" dirty="0"/>
              <a:t>text, voice, or crop images</a:t>
            </a:r>
            <a:r>
              <a:rPr lang="en-IN" dirty="0"/>
              <a:t>. Instead of displaying complex technical results, the system converts them into simple and understandable farming actions.</a:t>
            </a:r>
          </a:p>
          <a:p>
            <a:pPr>
              <a:buNone/>
            </a:pPr>
            <a:r>
              <a:rPr lang="en-IN" b="1" dirty="0"/>
              <a:t>Novelty</a:t>
            </a:r>
          </a:p>
          <a:p>
            <a:pPr>
              <a:buNone/>
            </a:pPr>
            <a:r>
              <a:rPr lang="en-IN" dirty="0"/>
              <a:t>The main novelty is the combination of:</a:t>
            </a:r>
          </a:p>
          <a:p>
            <a:pPr marL="342900" lvl="0" indent="-342900">
              <a:buFont typeface="Arial" panose="020B0604020202020204" pitchFamily="34" charset="0"/>
              <a:buChar char="•"/>
            </a:pPr>
            <a:r>
              <a:rPr lang="en-IN" b="1" dirty="0"/>
              <a:t>Agentic AI</a:t>
            </a:r>
            <a:r>
              <a:rPr lang="en-IN" dirty="0"/>
              <a:t> </a:t>
            </a:r>
          </a:p>
          <a:p>
            <a:pPr marL="342900" lvl="0" indent="-342900">
              <a:buFont typeface="Arial" panose="020B0604020202020204" pitchFamily="34" charset="0"/>
              <a:buChar char="•"/>
            </a:pPr>
            <a:r>
              <a:rPr lang="en-IN" dirty="0"/>
              <a:t>Real-time agricultural data </a:t>
            </a:r>
          </a:p>
          <a:p>
            <a:pPr marL="342900" lvl="0" indent="-342900">
              <a:buFont typeface="Arial" panose="020B0604020202020204" pitchFamily="34" charset="0"/>
              <a:buChar char="•"/>
            </a:pPr>
            <a:r>
              <a:rPr lang="en-IN" dirty="0"/>
              <a:t>Multimodal interaction </a:t>
            </a:r>
          </a:p>
          <a:p>
            <a:pPr marL="342900" lvl="0" indent="-342900">
              <a:buFont typeface="Arial" panose="020B0604020202020204" pitchFamily="34" charset="0"/>
              <a:buChar char="•"/>
            </a:pPr>
            <a:r>
              <a:rPr lang="en-IN" dirty="0"/>
              <a:t>Personalized recommendations </a:t>
            </a:r>
          </a:p>
          <a:p>
            <a:pPr marL="342900" lvl="0" indent="-342900">
              <a:buFont typeface="Arial" panose="020B0604020202020204" pitchFamily="34" charset="0"/>
              <a:buChar char="•"/>
            </a:pPr>
            <a:r>
              <a:rPr lang="en-IN" dirty="0"/>
              <a:t>Historical farm information </a:t>
            </a:r>
          </a:p>
          <a:p>
            <a:pPr marL="342900" lvl="0" indent="-342900">
              <a:buFont typeface="Arial" panose="020B0604020202020204" pitchFamily="34" charset="0"/>
              <a:buChar char="•"/>
            </a:pPr>
            <a:r>
              <a:rPr lang="en-IN" dirty="0"/>
              <a:t>Proactive decision-making </a:t>
            </a:r>
          </a:p>
          <a:p>
            <a:pPr>
              <a:buNone/>
            </a:pPr>
            <a:r>
              <a:rPr lang="en-IN" dirty="0"/>
              <a:t>The system focuses not only on predicting a problem but also on answering </a:t>
            </a:r>
            <a:r>
              <a:rPr lang="en-IN" b="1" dirty="0"/>
              <a:t>“What should the farmer do next?”</a:t>
            </a:r>
            <a:endParaRPr lang="en-IN" dirty="0"/>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3" name="Table 2">
            <a:extLst>
              <a:ext uri="{FF2B5EF4-FFF2-40B4-BE49-F238E27FC236}">
                <a16:creationId xmlns:a16="http://schemas.microsoft.com/office/drawing/2014/main" id="{E2D7E9B7-182B-867A-1F35-EF9B6F5304E5}"/>
              </a:ext>
            </a:extLst>
          </p:cNvPr>
          <p:cNvGraphicFramePr>
            <a:graphicFrameLocks noGrp="1"/>
          </p:cNvGraphicFramePr>
          <p:nvPr/>
        </p:nvGraphicFramePr>
        <p:xfrm>
          <a:off x="838200" y="2218214"/>
          <a:ext cx="10515600" cy="3566160"/>
        </p:xfrm>
        <a:graphic>
          <a:graphicData uri="http://schemas.openxmlformats.org/drawingml/2006/table">
            <a:tbl>
              <a:tblPr/>
              <a:tblGrid>
                <a:gridCol w="5257800">
                  <a:extLst>
                    <a:ext uri="{9D8B030D-6E8A-4147-A177-3AD203B41FA5}">
                      <a16:colId xmlns:a16="http://schemas.microsoft.com/office/drawing/2014/main" val="4078881085"/>
                    </a:ext>
                  </a:extLst>
                </a:gridCol>
                <a:gridCol w="5257800">
                  <a:extLst>
                    <a:ext uri="{9D8B030D-6E8A-4147-A177-3AD203B41FA5}">
                      <a16:colId xmlns:a16="http://schemas.microsoft.com/office/drawing/2014/main" val="35822737"/>
                    </a:ext>
                  </a:extLst>
                </a:gridCol>
              </a:tblGrid>
              <a:tr h="0">
                <a:tc>
                  <a:txBody>
                    <a:bodyPr/>
                    <a:lstStyle/>
                    <a:p>
                      <a:pPr>
                        <a:buNone/>
                      </a:pPr>
                      <a:r>
                        <a:rPr lang="en-IN" b="1"/>
                        <a:t>Feasibility</a:t>
                      </a:r>
                      <a:endParaRPr lang="en-IN"/>
                    </a:p>
                  </a:txBody>
                  <a:tcPr anchor="ctr">
                    <a:lnL>
                      <a:noFill/>
                    </a:lnL>
                    <a:lnR>
                      <a:noFill/>
                    </a:lnR>
                    <a:lnT>
                      <a:noFill/>
                    </a:lnT>
                    <a:lnB>
                      <a:noFill/>
                    </a:lnB>
                    <a:noFill/>
                  </a:tcPr>
                </a:tc>
                <a:tc>
                  <a:txBody>
                    <a:bodyPr/>
                    <a:lstStyle/>
                    <a:p>
                      <a:pPr>
                        <a:buNone/>
                      </a:pPr>
                      <a:r>
                        <a:rPr lang="en-IN" b="1"/>
                        <a:t>Project Plan</a:t>
                      </a:r>
                      <a:endParaRPr lang="en-IN"/>
                    </a:p>
                  </a:txBody>
                  <a:tcPr anchor="ctr">
                    <a:lnL>
                      <a:noFill/>
                    </a:lnL>
                    <a:lnR>
                      <a:noFill/>
                    </a:lnR>
                    <a:lnT>
                      <a:noFill/>
                    </a:lnT>
                    <a:lnB>
                      <a:noFill/>
                    </a:lnB>
                    <a:noFill/>
                  </a:tcPr>
                </a:tc>
                <a:extLst>
                  <a:ext uri="{0D108BD9-81ED-4DB2-BD59-A6C34878D82A}">
                    <a16:rowId xmlns:a16="http://schemas.microsoft.com/office/drawing/2014/main" val="3411202317"/>
                  </a:ext>
                </a:extLst>
              </a:tr>
              <a:tr h="0">
                <a:tc>
                  <a:txBody>
                    <a:bodyPr/>
                    <a:lstStyle/>
                    <a:p>
                      <a:pPr>
                        <a:buNone/>
                      </a:pPr>
                      <a:r>
                        <a:rPr lang="en-IN"/>
                        <a:t>• </a:t>
                      </a:r>
                      <a:r>
                        <a:rPr lang="en-IN" b="1"/>
                        <a:t>Technical:</a:t>
                      </a:r>
                      <a:r>
                        <a:rPr lang="en-IN"/>
                        <a:t> Uses available AI/ML models, APIs, databases, and agent frameworks.</a:t>
                      </a:r>
                    </a:p>
                  </a:txBody>
                  <a:tcPr anchor="ctr">
                    <a:lnL>
                      <a:noFill/>
                    </a:lnL>
                    <a:lnR>
                      <a:noFill/>
                    </a:lnR>
                    <a:lnT>
                      <a:noFill/>
                    </a:lnT>
                    <a:lnB>
                      <a:noFill/>
                    </a:lnB>
                    <a:noFill/>
                  </a:tcPr>
                </a:tc>
                <a:tc>
                  <a:txBody>
                    <a:bodyPr/>
                    <a:lstStyle/>
                    <a:p>
                      <a:pPr>
                        <a:buNone/>
                      </a:pPr>
                      <a:r>
                        <a:rPr lang="en-IN" b="1"/>
                        <a:t>1. Requirement Analysis</a:t>
                      </a:r>
                      <a:r>
                        <a:rPr lang="en-IN"/>
                        <a:t> – Identify farmer needs and system requirements.</a:t>
                      </a:r>
                    </a:p>
                  </a:txBody>
                  <a:tcPr anchor="ctr">
                    <a:lnL>
                      <a:noFill/>
                    </a:lnL>
                    <a:lnR>
                      <a:noFill/>
                    </a:lnR>
                    <a:lnT>
                      <a:noFill/>
                    </a:lnT>
                    <a:lnB>
                      <a:noFill/>
                    </a:lnB>
                    <a:noFill/>
                  </a:tcPr>
                </a:tc>
                <a:extLst>
                  <a:ext uri="{0D108BD9-81ED-4DB2-BD59-A6C34878D82A}">
                    <a16:rowId xmlns:a16="http://schemas.microsoft.com/office/drawing/2014/main" val="4124282132"/>
                  </a:ext>
                </a:extLst>
              </a:tr>
              <a:tr h="0">
                <a:tc>
                  <a:txBody>
                    <a:bodyPr/>
                    <a:lstStyle/>
                    <a:p>
                      <a:pPr>
                        <a:buNone/>
                      </a:pPr>
                      <a:r>
                        <a:rPr lang="en-IN"/>
                        <a:t>• </a:t>
                      </a:r>
                      <a:r>
                        <a:rPr lang="en-IN" b="1"/>
                        <a:t>Data:</a:t>
                      </a:r>
                      <a:r>
                        <a:rPr lang="en-IN"/>
                        <a:t> Uses publicly available datasets for soil, crops, weather, and diseases.</a:t>
                      </a:r>
                    </a:p>
                  </a:txBody>
                  <a:tcPr anchor="ctr">
                    <a:lnL>
                      <a:noFill/>
                    </a:lnL>
                    <a:lnR>
                      <a:noFill/>
                    </a:lnR>
                    <a:lnT>
                      <a:noFill/>
                    </a:lnT>
                    <a:lnB>
                      <a:noFill/>
                    </a:lnB>
                    <a:noFill/>
                  </a:tcPr>
                </a:tc>
                <a:tc>
                  <a:txBody>
                    <a:bodyPr/>
                    <a:lstStyle/>
                    <a:p>
                      <a:pPr>
                        <a:buNone/>
                      </a:pPr>
                      <a:r>
                        <a:rPr lang="en-IN" b="1"/>
                        <a:t>2. Data Collection</a:t>
                      </a:r>
                      <a:r>
                        <a:rPr lang="en-IN"/>
                        <a:t> – Collect and preprocess agricultural datasets.</a:t>
                      </a:r>
                    </a:p>
                  </a:txBody>
                  <a:tcPr anchor="ctr">
                    <a:lnL>
                      <a:noFill/>
                    </a:lnL>
                    <a:lnR>
                      <a:noFill/>
                    </a:lnR>
                    <a:lnT>
                      <a:noFill/>
                    </a:lnT>
                    <a:lnB>
                      <a:noFill/>
                    </a:lnB>
                    <a:noFill/>
                  </a:tcPr>
                </a:tc>
                <a:extLst>
                  <a:ext uri="{0D108BD9-81ED-4DB2-BD59-A6C34878D82A}">
                    <a16:rowId xmlns:a16="http://schemas.microsoft.com/office/drawing/2014/main" val="454662089"/>
                  </a:ext>
                </a:extLst>
              </a:tr>
              <a:tr h="0">
                <a:tc>
                  <a:txBody>
                    <a:bodyPr/>
                    <a:lstStyle/>
                    <a:p>
                      <a:pPr>
                        <a:buNone/>
                      </a:pPr>
                      <a:r>
                        <a:rPr lang="en-IN"/>
                        <a:t>• </a:t>
                      </a:r>
                      <a:r>
                        <a:rPr lang="en-IN" b="1"/>
                        <a:t>Economic:</a:t>
                      </a:r>
                      <a:r>
                        <a:rPr lang="en-IN"/>
                        <a:t> Can be developed using open-source tools and low-cost APIs.</a:t>
                      </a:r>
                    </a:p>
                  </a:txBody>
                  <a:tcPr anchor="ctr">
                    <a:lnL>
                      <a:noFill/>
                    </a:lnL>
                    <a:lnR>
                      <a:noFill/>
                    </a:lnR>
                    <a:lnT>
                      <a:noFill/>
                    </a:lnT>
                    <a:lnB>
                      <a:noFill/>
                    </a:lnB>
                    <a:noFill/>
                  </a:tcPr>
                </a:tc>
                <a:tc>
                  <a:txBody>
                    <a:bodyPr/>
                    <a:lstStyle/>
                    <a:p>
                      <a:pPr>
                        <a:buNone/>
                      </a:pPr>
                      <a:r>
                        <a:rPr lang="en-IN" b="1"/>
                        <a:t>3. Agent Development</a:t>
                      </a:r>
                      <a:r>
                        <a:rPr lang="en-IN"/>
                        <a:t> – Build weather, soil, disease, irrigation, and market agents.</a:t>
                      </a:r>
                    </a:p>
                  </a:txBody>
                  <a:tcPr anchor="ctr">
                    <a:lnL>
                      <a:noFill/>
                    </a:lnL>
                    <a:lnR>
                      <a:noFill/>
                    </a:lnR>
                    <a:lnT>
                      <a:noFill/>
                    </a:lnT>
                    <a:lnB>
                      <a:noFill/>
                    </a:lnB>
                    <a:noFill/>
                  </a:tcPr>
                </a:tc>
                <a:extLst>
                  <a:ext uri="{0D108BD9-81ED-4DB2-BD59-A6C34878D82A}">
                    <a16:rowId xmlns:a16="http://schemas.microsoft.com/office/drawing/2014/main" val="594794206"/>
                  </a:ext>
                </a:extLst>
              </a:tr>
              <a:tr h="0">
                <a:tc>
                  <a:txBody>
                    <a:bodyPr/>
                    <a:lstStyle/>
                    <a:p>
                      <a:pPr>
                        <a:buNone/>
                      </a:pPr>
                      <a:r>
                        <a:rPr lang="en-IN"/>
                        <a:t>• </a:t>
                      </a:r>
                      <a:r>
                        <a:rPr lang="en-IN" b="1"/>
                        <a:t>Operational:</a:t>
                      </a:r>
                      <a:r>
                        <a:rPr lang="en-IN"/>
                        <a:t> Simple text, voice, and image interface makes it farmer-friendly.</a:t>
                      </a:r>
                    </a:p>
                  </a:txBody>
                  <a:tcPr anchor="ctr">
                    <a:lnL>
                      <a:noFill/>
                    </a:lnL>
                    <a:lnR>
                      <a:noFill/>
                    </a:lnR>
                    <a:lnT>
                      <a:noFill/>
                    </a:lnT>
                    <a:lnB>
                      <a:noFill/>
                    </a:lnB>
                    <a:noFill/>
                  </a:tcPr>
                </a:tc>
                <a:tc>
                  <a:txBody>
                    <a:bodyPr/>
                    <a:lstStyle/>
                    <a:p>
                      <a:pPr>
                        <a:buNone/>
                      </a:pPr>
                      <a:r>
                        <a:rPr lang="en-IN" b="1"/>
                        <a:t>4. Integration</a:t>
                      </a:r>
                      <a:r>
                        <a:rPr lang="en-IN"/>
                        <a:t> – Connect agents using an orchestration layer.</a:t>
                      </a:r>
                    </a:p>
                  </a:txBody>
                  <a:tcPr anchor="ctr">
                    <a:lnL>
                      <a:noFill/>
                    </a:lnL>
                    <a:lnR>
                      <a:noFill/>
                    </a:lnR>
                    <a:lnT>
                      <a:noFill/>
                    </a:lnT>
                    <a:lnB>
                      <a:noFill/>
                    </a:lnB>
                    <a:noFill/>
                  </a:tcPr>
                </a:tc>
                <a:extLst>
                  <a:ext uri="{0D108BD9-81ED-4DB2-BD59-A6C34878D82A}">
                    <a16:rowId xmlns:a16="http://schemas.microsoft.com/office/drawing/2014/main" val="3354239034"/>
                  </a:ext>
                </a:extLst>
              </a:tr>
              <a:tr h="0">
                <a:tc>
                  <a:txBody>
                    <a:bodyPr/>
                    <a:lstStyle/>
                    <a:p>
                      <a:pPr>
                        <a:buNone/>
                      </a:pPr>
                      <a:r>
                        <a:rPr lang="en-IN"/>
                        <a:t>• </a:t>
                      </a:r>
                      <a:r>
                        <a:rPr lang="en-IN" b="1"/>
                        <a:t>Scalable:</a:t>
                      </a:r>
                      <a:r>
                        <a:rPr lang="en-IN"/>
                        <a:t> Modular architecture allows individual agents to be upgraded easily.</a:t>
                      </a:r>
                    </a:p>
                  </a:txBody>
                  <a:tcPr anchor="ctr">
                    <a:lnL>
                      <a:noFill/>
                    </a:lnL>
                    <a:lnR>
                      <a:noFill/>
                    </a:lnR>
                    <a:lnT>
                      <a:noFill/>
                    </a:lnT>
                    <a:lnB>
                      <a:noFill/>
                    </a:lnB>
                    <a:noFill/>
                  </a:tcPr>
                </a:tc>
                <a:tc>
                  <a:txBody>
                    <a:bodyPr/>
                    <a:lstStyle/>
                    <a:p>
                      <a:pPr>
                        <a:buNone/>
                      </a:pPr>
                      <a:r>
                        <a:rPr lang="en-IN" b="1" dirty="0"/>
                        <a:t>5. Testing &amp; Deployment</a:t>
                      </a:r>
                      <a:r>
                        <a:rPr lang="en-IN" dirty="0"/>
                        <a:t> – Test the system and deploy the final prototype.</a:t>
                      </a:r>
                    </a:p>
                  </a:txBody>
                  <a:tcPr anchor="ctr">
                    <a:lnL>
                      <a:noFill/>
                    </a:lnL>
                    <a:lnR>
                      <a:noFill/>
                    </a:lnR>
                    <a:lnT>
                      <a:noFill/>
                    </a:lnT>
                    <a:lnB>
                      <a:noFill/>
                    </a:lnB>
                    <a:noFill/>
                  </a:tcPr>
                </a:tc>
                <a:extLst>
                  <a:ext uri="{0D108BD9-81ED-4DB2-BD59-A6C34878D82A}">
                    <a16:rowId xmlns:a16="http://schemas.microsoft.com/office/drawing/2014/main" val="2869081102"/>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741</Words>
  <Application>Microsoft Office PowerPoint</Application>
  <PresentationFormat>Widescreen</PresentationFormat>
  <Paragraphs>117</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Farmers face several challenges such as unpredictable weather, crop diseases, pests, soil problems, improper irrigation, fertilizer misuse, and changing market prices. Existing agricultural systems usually focus on only one problem at a time and provide static recommendations. Farmers therefore need to consult multiple sources before making decisions. Agri Mind aims to provide a single intelligent platform that combines weather, soil, crop, disease, irrigation, fertilizer, and market information. Using multiple AI agents and an orchestration layer, the system provides personalized, timely, and actionable recommendations based on the farmer's specific conditions. </vt:lpstr>
      <vt:lpstr>Develop an AI-based agricultural advisory system using multiple specialized agents.  Analyze soil, weather, crop, disease, irrigation, fertilizer, and market data.  Provide personalized recommendations based on crop type and growth stage.  Enable farmers to interact using text, voice, and images.  Provide timely recommendations for irrigation, diseases, fertilizers, and crop management.  Maintain historical farm data to improve future recommendations.  Reduce unnecessary use of water, fertilizers, and other resources.  Develop a simple and user-friendly interface for farmers.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kodali anusha</cp:lastModifiedBy>
  <cp:revision>34</cp:revision>
  <dcterms:created xsi:type="dcterms:W3CDTF">2026-08-08T06:33:56Z</dcterms:created>
  <dcterms:modified xsi:type="dcterms:W3CDTF">2026-09-11T03:01:23Z</dcterms:modified>
</cp:coreProperties>
</file>